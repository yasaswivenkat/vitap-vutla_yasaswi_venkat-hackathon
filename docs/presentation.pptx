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78" d="100"/>
          <a:sy n="78" d="100"/>
        </p:scale>
        <p:origin x="1594" y="-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777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741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600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488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482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347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212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197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933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819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230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428333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9958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7032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7553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3836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363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6329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3725" y="1422400"/>
            <a:ext cx="7956550" cy="1470025"/>
          </a:xfrm>
        </p:spPr>
        <p:txBody>
          <a:bodyPr/>
          <a:lstStyle/>
          <a:p>
            <a:r>
              <a:rPr sz="6000" dirty="0"/>
              <a:t>AI Risk Analyst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83590" y="2747010"/>
            <a:ext cx="7766685" cy="3286125"/>
          </a:xfrm>
        </p:spPr>
        <p:txBody>
          <a:bodyPr>
            <a:normAutofit fontScale="95000"/>
          </a:bodyPr>
          <a:lstStyle/>
          <a:p>
            <a:r>
              <a:rPr dirty="0">
                <a:solidFill>
                  <a:schemeClr val="tx1"/>
                </a:solidFill>
              </a:rPr>
              <a:t>Stress Testing, Index Rebalancing &amp; Enterprise Audit</a:t>
            </a:r>
          </a:p>
          <a:p>
            <a:endParaRPr dirty="0"/>
          </a:p>
          <a:p>
            <a:endParaRPr dirty="0"/>
          </a:p>
          <a:p>
            <a:r>
              <a:rPr dirty="0"/>
              <a:t>S&amp;P Global &amp; Crisil Campus Hackathon 2026</a:t>
            </a:r>
          </a:p>
          <a:p>
            <a:r>
              <a:rPr dirty="0"/>
              <a:t>Candidate Name: Vutla Yasaswi Venkat</a:t>
            </a:r>
          </a:p>
          <a:p>
            <a:r>
              <a:rPr dirty="0"/>
              <a:t>College: VIT-AP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09" y="1012940"/>
            <a:ext cx="7921871" cy="825476"/>
          </a:xfrm>
        </p:spPr>
        <p:txBody>
          <a:bodyPr/>
          <a:lstStyle/>
          <a:p>
            <a:r>
              <a:rPr dirty="0"/>
              <a:t>The Problem: Data</a:t>
            </a:r>
            <a:r>
              <a:rPr lang="en-IN" dirty="0"/>
              <a:t> </a:t>
            </a:r>
            <a:r>
              <a:rPr dirty="0"/>
              <a:t>Overload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690" y="1884855"/>
            <a:ext cx="8229600" cy="4594603"/>
          </a:xfrm>
        </p:spPr>
        <p:txBody>
          <a:bodyPr wrap="square">
            <a:noAutofit/>
          </a:bodyPr>
          <a:lstStyle/>
          <a:p>
            <a:r>
              <a:rPr sz="2400" dirty="0"/>
              <a:t>Imagine</a:t>
            </a:r>
            <a:r>
              <a:rPr lang="en-IN" sz="2400" dirty="0"/>
              <a:t> you are</a:t>
            </a:r>
            <a:r>
              <a:rPr sz="2400" dirty="0"/>
              <a:t> a risk manager at a global bank flooded with chaotic, conflicting news reports.</a:t>
            </a:r>
          </a:p>
          <a:p>
            <a:r>
              <a:rPr sz="2400" dirty="0"/>
              <a:t>The painful reality: There is too much unstructured data for humans to read, analyze and act upon in real-time.</a:t>
            </a:r>
          </a:p>
          <a:p>
            <a:r>
              <a:rPr sz="2400" dirty="0"/>
              <a:t>By the time a human analyst finishes reading the morning news, the market </a:t>
            </a:r>
            <a:r>
              <a:rPr lang="en-IN" sz="2400" dirty="0"/>
              <a:t>would have</a:t>
            </a:r>
            <a:r>
              <a:rPr sz="2400" dirty="0"/>
              <a:t> already crashed.</a:t>
            </a:r>
          </a:p>
          <a:p>
            <a:r>
              <a:rPr sz="2400" dirty="0"/>
              <a:t>We don't need faster readers. We need a system that can read the internet and instantly tell us how much money we are about to lose.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580537"/>
            <a:ext cx="7055380" cy="1100779"/>
          </a:xfrm>
        </p:spPr>
        <p:txBody>
          <a:bodyPr>
            <a:noAutofit/>
          </a:bodyPr>
          <a:lstStyle/>
          <a:p>
            <a:r>
              <a:rPr sz="3600" dirty="0"/>
              <a:t>Our Solution</a:t>
            </a:r>
            <a:r>
              <a:rPr lang="en-IN" sz="3600" dirty="0"/>
              <a:t>:</a:t>
            </a:r>
            <a:r>
              <a:rPr sz="3600" dirty="0"/>
              <a:t> </a:t>
            </a:r>
            <a:br>
              <a:rPr lang="en-IN" sz="3600" dirty="0"/>
            </a:br>
            <a:r>
              <a:rPr sz="3600" dirty="0"/>
              <a:t>The AI-Driven Risk Analyst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93953"/>
            <a:ext cx="8229600" cy="4611329"/>
          </a:xfrm>
        </p:spPr>
        <p:txBody>
          <a:bodyPr wrap="square">
            <a:noAutofit/>
          </a:bodyPr>
          <a:lstStyle/>
          <a:p>
            <a:pPr marL="0" indent="0">
              <a:buNone/>
            </a:pPr>
            <a:r>
              <a:rPr lang="en-IN" sz="2400" dirty="0"/>
              <a:t>Q. </a:t>
            </a:r>
            <a:r>
              <a:rPr sz="2400" dirty="0"/>
              <a:t>What if an analyst never slept</a:t>
            </a:r>
            <a:r>
              <a:rPr lang="en-IN" sz="2400" dirty="0"/>
              <a:t> and</a:t>
            </a:r>
            <a:r>
              <a:rPr sz="2400" dirty="0"/>
              <a:t> could read 10,000 articles a second and immediately </a:t>
            </a:r>
            <a:r>
              <a:rPr sz="2400" dirty="0" err="1"/>
              <a:t>quantif</a:t>
            </a:r>
            <a:r>
              <a:rPr lang="en-IN" sz="2400" dirty="0"/>
              <a:t>y</a:t>
            </a:r>
            <a:r>
              <a:rPr sz="2400" dirty="0"/>
              <a:t> risk?</a:t>
            </a:r>
          </a:p>
          <a:p>
            <a:pPr marL="0" indent="0">
              <a:buNone/>
            </a:pPr>
            <a:r>
              <a:rPr lang="en-IN" sz="2400" dirty="0"/>
              <a:t>Sol: </a:t>
            </a:r>
            <a:r>
              <a:rPr sz="2400" dirty="0"/>
              <a:t>We built a unified platform that does exactly that:</a:t>
            </a:r>
          </a:p>
          <a:p>
            <a:r>
              <a:rPr sz="2400" dirty="0"/>
              <a:t>1. It Listens: Ingests live, breaking global news feeds automatically.</a:t>
            </a:r>
          </a:p>
          <a:p>
            <a:r>
              <a:rPr sz="2400" dirty="0"/>
              <a:t>2. It Thinks: Uses Google's Gemini AI to mathematically score the 'panic level'</a:t>
            </a:r>
            <a:r>
              <a:rPr lang="en-IN" sz="2400" dirty="0"/>
              <a:t>.</a:t>
            </a:r>
            <a:endParaRPr sz="2400" dirty="0"/>
          </a:p>
          <a:p>
            <a:r>
              <a:rPr sz="2400" dirty="0"/>
              <a:t>3. It Acts: </a:t>
            </a:r>
            <a:r>
              <a:rPr lang="en-IN" sz="2400" dirty="0"/>
              <a:t>It a</a:t>
            </a:r>
            <a:r>
              <a:rPr sz="2400" dirty="0" err="1"/>
              <a:t>utomatically</a:t>
            </a:r>
            <a:r>
              <a:rPr sz="2400" dirty="0"/>
              <a:t> triggers mathematical stress tests against our banking portfolio based on those AI scores.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462550"/>
            <a:ext cx="7055380" cy="1307256"/>
          </a:xfrm>
        </p:spPr>
        <p:txBody>
          <a:bodyPr/>
          <a:lstStyle/>
          <a:p>
            <a:r>
              <a:rPr sz="4000" dirty="0"/>
              <a:t>Under the Hood: </a:t>
            </a:r>
            <a:br>
              <a:rPr lang="en-IN" sz="4000" dirty="0"/>
            </a:br>
            <a:r>
              <a:rPr sz="4000" dirty="0"/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690" y="1904218"/>
            <a:ext cx="8229600" cy="4520729"/>
          </a:xfrm>
        </p:spPr>
        <p:txBody>
          <a:bodyPr wrap="square">
            <a:noAutofit/>
          </a:bodyPr>
          <a:lstStyle/>
          <a:p>
            <a:r>
              <a:rPr sz="2400" dirty="0"/>
              <a:t>1. The Ears (Ingestion Layer): We aggressively pull real-time financial data via </a:t>
            </a:r>
            <a:r>
              <a:rPr sz="2400" dirty="0" err="1"/>
              <a:t>yfinance</a:t>
            </a:r>
            <a:r>
              <a:rPr sz="2400" dirty="0"/>
              <a:t> and global macro-events via </a:t>
            </a:r>
            <a:r>
              <a:rPr sz="2400" dirty="0" err="1"/>
              <a:t>NewsAPI</a:t>
            </a:r>
            <a:r>
              <a:rPr sz="2400" dirty="0"/>
              <a:t>.</a:t>
            </a:r>
          </a:p>
          <a:p>
            <a:r>
              <a:rPr sz="2400" dirty="0"/>
              <a:t>2. The Brain (NLP Engine): Unstructured text goes straight to Gemini 3.8 Flash.</a:t>
            </a:r>
          </a:p>
          <a:p>
            <a:r>
              <a:rPr sz="2400" dirty="0"/>
              <a:t>We use Structured Outputs (JSON Schema) to force the AI to return strict, valid mathematical numbers every single time.</a:t>
            </a:r>
          </a:p>
          <a:p>
            <a:r>
              <a:rPr sz="2400" dirty="0"/>
              <a:t>3. The Memory (Compliance Layer): Every single decision the AI makes is permanently recorded to a secure CSV audit log for enterprise compliance.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3600" dirty="0"/>
              <a:t>The Dashboard: </a:t>
            </a:r>
            <a:br>
              <a:rPr lang="en-IN" sz="3600" dirty="0"/>
            </a:br>
            <a:r>
              <a:rPr sz="3600" dirty="0"/>
              <a:t>Actionable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045" y="1738180"/>
            <a:ext cx="8229600" cy="4800272"/>
          </a:xfrm>
        </p:spPr>
        <p:txBody>
          <a:bodyPr wrap="square">
            <a:noAutofit/>
          </a:bodyPr>
          <a:lstStyle/>
          <a:p>
            <a:r>
              <a:rPr sz="2400" dirty="0"/>
              <a:t>Module A (Tactical Rebalancing): Dynamically reweights a live stock index based on AI sentiment extraction.</a:t>
            </a:r>
          </a:p>
          <a:p>
            <a:r>
              <a:rPr sz="2400" dirty="0"/>
              <a:t>Module B (Live Stress Testing): Detects breaking news, assigns Impact Scores and visualizes portfolio hit.</a:t>
            </a:r>
          </a:p>
          <a:p>
            <a:r>
              <a:rPr sz="2400" dirty="0"/>
              <a:t>Module C (Historical </a:t>
            </a:r>
            <a:r>
              <a:rPr sz="2400" dirty="0" err="1"/>
              <a:t>Backtesting</a:t>
            </a:r>
            <a:r>
              <a:rPr sz="2400" dirty="0"/>
              <a:t>): Proves survival using past crises (e.g., the 2023 Silicon Valley Bank collapse).</a:t>
            </a:r>
          </a:p>
          <a:p>
            <a:r>
              <a:rPr sz="2400" dirty="0"/>
              <a:t>Module D (Enterprise Audit): A dedicated compliance tracker proving to regulators exactly why the AI made a decision.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570705"/>
            <a:ext cx="7055380" cy="1400530"/>
          </a:xfrm>
        </p:spPr>
        <p:txBody>
          <a:bodyPr/>
          <a:lstStyle/>
          <a:p>
            <a:r>
              <a:rPr dirty="0"/>
              <a:t>Why This Matters </a:t>
            </a:r>
            <a:br>
              <a:rPr lang="en-IN" dirty="0"/>
            </a:br>
            <a:r>
              <a:rPr dirty="0"/>
              <a:t>(Domain Impact)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2209801"/>
            <a:ext cx="6711654" cy="4195481"/>
          </a:xfrm>
        </p:spPr>
        <p:txBody>
          <a:bodyPr wrap="square">
            <a:normAutofit fontScale="85000" lnSpcReduction="20000"/>
          </a:bodyPr>
          <a:lstStyle/>
          <a:p>
            <a:pPr marL="0" indent="0">
              <a:buNone/>
            </a:pPr>
            <a:r>
              <a:rPr lang="en-IN" sz="2800" dirty="0"/>
              <a:t>      </a:t>
            </a:r>
            <a:r>
              <a:rPr sz="2800" dirty="0"/>
              <a:t>This is a fundamental shift in how S&amp;P Global and Crisil can assess risk:</a:t>
            </a:r>
          </a:p>
          <a:p>
            <a:r>
              <a:rPr sz="2800" dirty="0"/>
              <a:t>Speed is Money: </a:t>
            </a:r>
            <a:r>
              <a:rPr lang="en-IN" sz="2800" dirty="0"/>
              <a:t>It a</a:t>
            </a:r>
            <a:r>
              <a:rPr sz="2800" dirty="0" err="1"/>
              <a:t>llows</a:t>
            </a:r>
            <a:r>
              <a:rPr sz="2800" dirty="0"/>
              <a:t> banks to simulate financial impacts of breaking events before the market reacts.</a:t>
            </a:r>
          </a:p>
          <a:p>
            <a:r>
              <a:rPr sz="2800" dirty="0"/>
              <a:t>Total Objectivity: </a:t>
            </a:r>
            <a:r>
              <a:rPr lang="en-IN" sz="2800" dirty="0"/>
              <a:t>It r</a:t>
            </a:r>
            <a:r>
              <a:rPr sz="2800" dirty="0" err="1"/>
              <a:t>emoves</a:t>
            </a:r>
            <a:r>
              <a:rPr sz="2800" dirty="0"/>
              <a:t> human emotion and panic from event categorization.</a:t>
            </a:r>
          </a:p>
          <a:p>
            <a:r>
              <a:rPr sz="2800" dirty="0"/>
              <a:t>Massive Scalability: </a:t>
            </a:r>
            <a:r>
              <a:rPr lang="en-IN" sz="2800" dirty="0"/>
              <a:t>It d</a:t>
            </a:r>
            <a:r>
              <a:rPr sz="2800" dirty="0" err="1"/>
              <a:t>oes</a:t>
            </a:r>
            <a:r>
              <a:rPr sz="2800" dirty="0"/>
              <a:t> the work of </a:t>
            </a:r>
            <a:r>
              <a:rPr lang="en-IN" sz="2800" dirty="0"/>
              <a:t>many human</a:t>
            </a:r>
            <a:r>
              <a:rPr sz="2800" dirty="0"/>
              <a:t> analysts</a:t>
            </a:r>
            <a:r>
              <a:rPr lang="en-IN" sz="2800" dirty="0"/>
              <a:t> in less time</a:t>
            </a:r>
            <a:r>
              <a:rPr sz="2800" dirty="0"/>
              <a:t>, converting </a:t>
            </a:r>
            <a:r>
              <a:rPr lang="en-IN" sz="2800" dirty="0"/>
              <a:t>vague </a:t>
            </a:r>
            <a:r>
              <a:rPr sz="2800" dirty="0"/>
              <a:t>geopolitical news into  </a:t>
            </a:r>
            <a:r>
              <a:rPr lang="en-IN" sz="2800" dirty="0"/>
              <a:t>v</a:t>
            </a:r>
            <a:r>
              <a:rPr sz="2800" dirty="0" err="1"/>
              <a:t>alue</a:t>
            </a:r>
            <a:r>
              <a:rPr sz="2800" dirty="0"/>
              <a:t>-at-</a:t>
            </a:r>
            <a:r>
              <a:rPr lang="en-IN" sz="2800" dirty="0"/>
              <a:t>r</a:t>
            </a:r>
            <a:r>
              <a:rPr sz="2800" dirty="0" err="1"/>
              <a:t>isk</a:t>
            </a:r>
            <a:r>
              <a:rPr sz="2800" dirty="0"/>
              <a:t> numbers instantly.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831043"/>
            <a:ext cx="7055380" cy="756650"/>
          </a:xfrm>
        </p:spPr>
        <p:txBody>
          <a:bodyPr/>
          <a:lstStyle/>
          <a:p>
            <a:r>
              <a:rPr dirty="0"/>
              <a:t>The Future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964436"/>
            <a:ext cx="6711654" cy="3344984"/>
          </a:xfrm>
        </p:spPr>
        <p:txBody>
          <a:bodyPr wrap="square">
            <a:noAutofit/>
          </a:bodyPr>
          <a:lstStyle/>
          <a:p>
            <a:pPr marL="0" indent="0">
              <a:buNone/>
            </a:pPr>
            <a:r>
              <a:rPr sz="2800" dirty="0"/>
              <a:t>Next Steps for Production:</a:t>
            </a:r>
          </a:p>
          <a:p>
            <a:r>
              <a:rPr sz="2400" dirty="0"/>
              <a:t>1. The Firehose: Upgrade the ingestion layer to Bloomberg or GDELT terminal streams for microsecond latency.</a:t>
            </a:r>
          </a:p>
          <a:p>
            <a:r>
              <a:rPr sz="2400" dirty="0"/>
              <a:t>2. Dynamic Value-at-Risk (</a:t>
            </a:r>
            <a:r>
              <a:rPr sz="2400" dirty="0" err="1"/>
              <a:t>VaR</a:t>
            </a:r>
            <a:r>
              <a:rPr sz="2400" dirty="0"/>
              <a:t>): Replace heuristic shocks with complex derivative and options pricing models to calculate non-linear market impacts</a:t>
            </a:r>
            <a:r>
              <a:rPr lang="en-IN" sz="2400" dirty="0"/>
              <a:t>.</a:t>
            </a:r>
            <a:endParaRPr sz="24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13</TotalTime>
  <Words>536</Words>
  <Application>Microsoft Office PowerPoint</Application>
  <PresentationFormat>On-screen Show (4:3)</PresentationFormat>
  <Paragraphs>37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Century Gothic</vt:lpstr>
      <vt:lpstr>Wingdings 3</vt:lpstr>
      <vt:lpstr>Ion</vt:lpstr>
      <vt:lpstr>AI Risk Analyst</vt:lpstr>
      <vt:lpstr>The Problem: Data Overload</vt:lpstr>
      <vt:lpstr>Our Solution:  The AI-Driven Risk Analyst</vt:lpstr>
      <vt:lpstr>Under the Hood:  System Architecture</vt:lpstr>
      <vt:lpstr>The Dashboard:  Actionable Intelligence</vt:lpstr>
      <vt:lpstr>Why This Matters  (Domain Impact)</vt:lpstr>
      <vt:lpstr>The Future Vision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Vutla Yasaswi Venkat</cp:lastModifiedBy>
  <cp:revision>10</cp:revision>
  <dcterms:created xsi:type="dcterms:W3CDTF">2013-01-27T09:14:00Z</dcterms:created>
  <dcterms:modified xsi:type="dcterms:W3CDTF">2026-10-22T06:20:03Z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2DB29E99A6E14F2EA96DD14BB0A4AB7C_12</vt:lpwstr>
  </property>
  <property fmtid="{D5CDD505-2E9C-101B-9397-08002B2CF9AE}" pid="3" name="KSOProductBuildVer">
    <vt:lpwstr>1033-12.1.0.29162</vt:lpwstr>
  </property>
</Properties>
</file>